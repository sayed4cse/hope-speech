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12192000" cy="6858000"/>
  <p:embeddedFontLst>
    <p:embeddedFont>
      <p:font typeface="Noto Serif Bengali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hHeAGhqqNkSUr1s0FACAV1yxBg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erifBengali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otoSerifBengali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82f400aef_0_3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b82f400aef_0_3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86fbb3ceb_0_3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b86fbb3ceb_0_3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82f400aef_0_5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b82f400aef_0_5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82f400aef_0_6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b82f400aef_0_6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a94a63ce1_2_3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ba94a63ce1_2_3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86fbb3ceb_0_5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b86fbb3ceb_0_5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82f400aef_0_6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b82f400aef_0_6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82f400aef_0_14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b82f400aef_0_14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a94a63ce1_4_5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ba94a63ce1_4_5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82f400aef_0_9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b82f400aef_0_9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82f400aef_0_2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b82f400aef_0_2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9060" y="128588"/>
            <a:ext cx="5053012" cy="90169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4"/>
          <p:cNvSpPr/>
          <p:nvPr/>
        </p:nvSpPr>
        <p:spPr>
          <a:xfrm>
            <a:off x="5643562" y="0"/>
            <a:ext cx="6548755" cy="1030605"/>
          </a:xfrm>
          <a:custGeom>
            <a:rect b="b" l="l" r="r" t="t"/>
            <a:pathLst>
              <a:path extrusionOk="0" h="1030605" w="6548755">
                <a:moveTo>
                  <a:pt x="6548436" y="1030287"/>
                </a:moveTo>
                <a:lnTo>
                  <a:pt x="0" y="1030287"/>
                </a:lnTo>
                <a:lnTo>
                  <a:pt x="0" y="0"/>
                </a:lnTo>
                <a:lnTo>
                  <a:pt x="6548436" y="0"/>
                </a:lnTo>
                <a:lnTo>
                  <a:pt x="6548436" y="1030287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" name="Google Shape;14;p4"/>
          <p:cNvSpPr txBox="1"/>
          <p:nvPr>
            <p:ph type="title"/>
          </p:nvPr>
        </p:nvSpPr>
        <p:spPr>
          <a:xfrm>
            <a:off x="9765753" y="297846"/>
            <a:ext cx="2350770" cy="391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11141125" y="6431780"/>
            <a:ext cx="177800" cy="222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9648" y="5743571"/>
            <a:ext cx="1153280" cy="97790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/>
          <p:nvPr/>
        </p:nvSpPr>
        <p:spPr>
          <a:xfrm>
            <a:off x="0" y="0"/>
            <a:ext cx="12192000" cy="361950"/>
          </a:xfrm>
          <a:custGeom>
            <a:rect b="b" l="l" r="r" t="t"/>
            <a:pathLst>
              <a:path extrusionOk="0" h="361950" w="12192000">
                <a:moveTo>
                  <a:pt x="12191999" y="361951"/>
                </a:moveTo>
                <a:lnTo>
                  <a:pt x="0" y="361951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61951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" name="Google Shape;22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141125" y="6431780"/>
            <a:ext cx="177800" cy="222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11141125" y="6431780"/>
            <a:ext cx="177800" cy="222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9765753" y="297846"/>
            <a:ext cx="2350770" cy="391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11141125" y="6431780"/>
            <a:ext cx="177800" cy="222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9765753" y="297846"/>
            <a:ext cx="2350770" cy="391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11141125" y="6431780"/>
            <a:ext cx="177800" cy="222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9765753" y="297846"/>
            <a:ext cx="2350770" cy="391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11141125" y="6431780"/>
            <a:ext cx="177800" cy="222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38100">
              <a:lnSpc>
                <a:spcPct val="116428"/>
              </a:lnSpc>
              <a:spcBef>
                <a:spcPts val="0"/>
              </a:spcBef>
              <a:buNone/>
              <a:defRPr b="0" i="0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 txBox="1"/>
          <p:nvPr>
            <p:ph type="title"/>
          </p:nvPr>
        </p:nvSpPr>
        <p:spPr>
          <a:xfrm>
            <a:off x="9765753" y="297846"/>
            <a:ext cx="2350770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Pre-Defense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>
            <p:ph idx="12" type="sldNum"/>
          </p:nvPr>
        </p:nvSpPr>
        <p:spPr>
          <a:xfrm>
            <a:off x="11141125" y="6431775"/>
            <a:ext cx="105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 txBox="1"/>
          <p:nvPr/>
        </p:nvSpPr>
        <p:spPr>
          <a:xfrm>
            <a:off x="853200" y="1016450"/>
            <a:ext cx="104466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BanHope:</a:t>
            </a: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Hope Speech Detection in Bengali</a:t>
            </a: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 Text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7239025" y="3365531"/>
            <a:ext cx="40608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620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en-US" sz="1800" u="sng">
                <a:latin typeface="Calibri"/>
                <a:ea typeface="Calibri"/>
                <a:cs typeface="Calibri"/>
                <a:sym typeface="Calibri"/>
              </a:rPr>
              <a:t>Supervised by</a:t>
            </a:r>
            <a:endParaRPr i="1" sz="1800" u="sng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Chowdhury Sajadul Islam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Associate Professor &amp; Chairman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Department of CSE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7239000" y="4859950"/>
            <a:ext cx="4060800" cy="14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1620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Co-</a:t>
            </a:r>
            <a:r>
              <a:rPr i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Supervised by</a:t>
            </a:r>
            <a:endParaRPr b="1" sz="1800" u="sng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Mohammad Mehadi Hasan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Assistant Professor &amp; Sr. Lecturer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Department of CSE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821560" y="3978992"/>
            <a:ext cx="407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Md. Abu Sayed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ID: 230122004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833488" y="3346852"/>
            <a:ext cx="407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Fatema Khatun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ID: 230122001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819715" y="4606607"/>
            <a:ext cx="407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Sarmin Akter Eti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ID: 230122015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817869" y="5232052"/>
            <a:ext cx="407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Foysal Ahamed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ID: 230122035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816023" y="5859667"/>
            <a:ext cx="407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Md. Rajaul Islam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ID: 230122039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833500" y="2757500"/>
            <a:ext cx="4073400" cy="513000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7232700" y="2763027"/>
            <a:ext cx="4073400" cy="513000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Supervised by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/>
        </p:nvSpPr>
        <p:spPr>
          <a:xfrm>
            <a:off x="1614487" y="5743571"/>
            <a:ext cx="10577700" cy="4818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0" lIns="0" spcFirstLastPara="1" rIns="0" wrap="square" tIns="111125">
            <a:noAutofit/>
          </a:bodyPr>
          <a:lstStyle/>
          <a:p>
            <a:pPr indent="0" lvl="0" marL="0" marR="8064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Pre-Defense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 txBox="1"/>
          <p:nvPr>
            <p:ph idx="12" type="sldNum"/>
          </p:nvPr>
        </p:nvSpPr>
        <p:spPr>
          <a:xfrm>
            <a:off x="11141125" y="6431775"/>
            <a:ext cx="105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558700" y="491813"/>
            <a:ext cx="1097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Presentation Outline</a:t>
            </a:r>
            <a:endParaRPr sz="1800" u="sng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1614475" y="1684025"/>
            <a:ext cx="3866400" cy="3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6389775" y="1684025"/>
            <a:ext cx="51465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 Demonstration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Novelty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82f400aef_0_36"/>
          <p:cNvSpPr txBox="1"/>
          <p:nvPr/>
        </p:nvSpPr>
        <p:spPr>
          <a:xfrm>
            <a:off x="1614487" y="5743571"/>
            <a:ext cx="10577700" cy="4818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0" lIns="0" spcFirstLastPara="1" rIns="0" wrap="square" tIns="111125">
            <a:spAutoFit/>
          </a:bodyPr>
          <a:lstStyle/>
          <a:p>
            <a:pPr indent="0" lvl="0" marL="0" marR="8064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Pre-Defense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b82f400aef_0_36"/>
          <p:cNvSpPr txBox="1"/>
          <p:nvPr>
            <p:ph idx="12" type="sldNum"/>
          </p:nvPr>
        </p:nvSpPr>
        <p:spPr>
          <a:xfrm>
            <a:off x="11141125" y="6431775"/>
            <a:ext cx="105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b82f400aef_0_36"/>
          <p:cNvSpPr txBox="1"/>
          <p:nvPr/>
        </p:nvSpPr>
        <p:spPr>
          <a:xfrm>
            <a:off x="558700" y="491813"/>
            <a:ext cx="1097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b82f400aef_0_36"/>
          <p:cNvSpPr/>
          <p:nvPr/>
        </p:nvSpPr>
        <p:spPr>
          <a:xfrm>
            <a:off x="582168" y="1365436"/>
            <a:ext cx="10899600" cy="3904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81000" lvl="0" marL="457200" marR="0" rtl="0" algn="just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Hope Speech Detection (HSD) is a technique that analyzes textual content to identify supportive and encouraging communication online.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Focus on analyzing Bengali social media text. A specialized Hope Speech Detection system that can understand Bengali tweets and classify them as Hope or Non-Hope.</a:t>
            </a:r>
            <a:endParaRPr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To build an AI-based system that can automatically detect hope speech in 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     Bengali social media, promoting positivity, diversity, and peace online.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86fbb3ceb_0_36"/>
          <p:cNvSpPr txBox="1"/>
          <p:nvPr/>
        </p:nvSpPr>
        <p:spPr>
          <a:xfrm>
            <a:off x="1614475" y="5743577"/>
            <a:ext cx="10577700" cy="4818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0" lIns="0" spcFirstLastPara="1" rIns="0" wrap="square" tIns="111125">
            <a:noAutofit/>
          </a:bodyPr>
          <a:lstStyle/>
          <a:p>
            <a:pPr indent="0" lvl="0" marL="0" marR="8064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Pre-Defense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b86fbb3ceb_0_36"/>
          <p:cNvSpPr txBox="1"/>
          <p:nvPr>
            <p:ph idx="12" type="sldNum"/>
          </p:nvPr>
        </p:nvSpPr>
        <p:spPr>
          <a:xfrm>
            <a:off x="11141125" y="6431775"/>
            <a:ext cx="105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b86fbb3ceb_0_36"/>
          <p:cNvSpPr txBox="1"/>
          <p:nvPr/>
        </p:nvSpPr>
        <p:spPr>
          <a:xfrm>
            <a:off x="558700" y="491813"/>
            <a:ext cx="1097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b86fbb3ceb_0_36"/>
          <p:cNvSpPr/>
          <p:nvPr/>
        </p:nvSpPr>
        <p:spPr>
          <a:xfrm>
            <a:off x="1466088" y="1413389"/>
            <a:ext cx="9570600" cy="53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AI Detects Hate, We’re Teaching It Hope.</a:t>
            </a:r>
            <a:endParaRPr b="1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b86fbb3ceb_0_36"/>
          <p:cNvSpPr/>
          <p:nvPr/>
        </p:nvSpPr>
        <p:spPr>
          <a:xfrm>
            <a:off x="929425" y="2033225"/>
            <a:ext cx="10500600" cy="3444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457200" marR="0" rtl="0" algn="just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Popular NLP systems detect hate speech in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English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Spanish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, but not in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Bengali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Existing research highlights negativity online but fails to capture the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supportive and cultural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context of Bengali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social media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➢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We’re building an AI that doesn’t just filter—it amplifies positivity and hope in Bengali voices.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82f400aef_0_53"/>
          <p:cNvSpPr txBox="1"/>
          <p:nvPr/>
        </p:nvSpPr>
        <p:spPr>
          <a:xfrm>
            <a:off x="1614487" y="5743571"/>
            <a:ext cx="10577700" cy="4818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0" lIns="0" spcFirstLastPara="1" rIns="0" wrap="square" tIns="111125">
            <a:spAutoFit/>
          </a:bodyPr>
          <a:lstStyle/>
          <a:p>
            <a:pPr indent="0" lvl="0" marL="0" marR="8064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Pre-Defense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b82f400aef_0_53"/>
          <p:cNvSpPr txBox="1"/>
          <p:nvPr>
            <p:ph idx="12" type="sldNum"/>
          </p:nvPr>
        </p:nvSpPr>
        <p:spPr>
          <a:xfrm>
            <a:off x="11141125" y="6431775"/>
            <a:ext cx="105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b82f400aef_0_53"/>
          <p:cNvSpPr txBox="1"/>
          <p:nvPr/>
        </p:nvSpPr>
        <p:spPr>
          <a:xfrm>
            <a:off x="558700" y="491813"/>
            <a:ext cx="1097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b82f400aef_0_53"/>
          <p:cNvSpPr/>
          <p:nvPr/>
        </p:nvSpPr>
        <p:spPr>
          <a:xfrm>
            <a:off x="946400" y="1612587"/>
            <a:ext cx="10299300" cy="3793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Develop a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novel HSD system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capable of classifying Bengali social media text into Hope and Non-Hope.</a:t>
            </a:r>
            <a:endParaRPr/>
          </a:p>
          <a:p>
            <a:pPr indent="-215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Construct the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first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Bengali Hope Speech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dataset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, consisting of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2,626 manually annotated tweets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collected between 2021–2022 with clear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Hope vs Non-Hope labels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15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Ensure annotation reliability using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Fleiss’ Kappa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and validate corpus balance across categories.</a:t>
            </a:r>
            <a:endParaRPr/>
          </a:p>
          <a:p>
            <a:pPr indent="-215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Design and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benchmark computational models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, including traditional classifiers and transformer-based architectures, for accurate and robust Hope Speech detection in Bengali text.</a:t>
            </a:r>
            <a:endParaRPr/>
          </a:p>
          <a:p>
            <a:pPr indent="-215900" lvl="1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82f400aef_0_60"/>
          <p:cNvSpPr txBox="1"/>
          <p:nvPr/>
        </p:nvSpPr>
        <p:spPr>
          <a:xfrm>
            <a:off x="1614487" y="5743571"/>
            <a:ext cx="10577700" cy="4818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0" lIns="0" spcFirstLastPara="1" rIns="0" wrap="square" tIns="111125">
            <a:spAutoFit/>
          </a:bodyPr>
          <a:lstStyle/>
          <a:p>
            <a:pPr indent="0" lvl="0" marL="0" marR="8064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Pre-Defense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b82f400aef_0_60"/>
          <p:cNvSpPr txBox="1"/>
          <p:nvPr>
            <p:ph idx="12" type="sldNum"/>
          </p:nvPr>
        </p:nvSpPr>
        <p:spPr>
          <a:xfrm>
            <a:off x="11141125" y="6431775"/>
            <a:ext cx="105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3b82f400aef_0_60"/>
          <p:cNvSpPr txBox="1"/>
          <p:nvPr/>
        </p:nvSpPr>
        <p:spPr>
          <a:xfrm>
            <a:off x="558700" y="491813"/>
            <a:ext cx="1097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b82f400aef_0_60"/>
          <p:cNvSpPr/>
          <p:nvPr/>
        </p:nvSpPr>
        <p:spPr>
          <a:xfrm>
            <a:off x="783336" y="1485379"/>
            <a:ext cx="10899600" cy="3904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Existing Works</a:t>
            </a:r>
            <a:endParaRPr/>
          </a:p>
          <a:p>
            <a:pPr indent="-285750" lvl="0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NLP on social media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→ hate speech, emotion, humour detection.</a:t>
            </a:r>
            <a:endParaRPr/>
          </a:p>
          <a:p>
            <a:pPr indent="-285750" lvl="0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datasets: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Mostly focused on → negativity, not hope.</a:t>
            </a:r>
            <a:endParaRPr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Hope Speech Datasets</a:t>
            </a:r>
            <a:endParaRPr/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Palakodety (2019)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→ English YouTube comments.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Chakravarthi (2020)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→ HopeEDI (English, Tamil, Malayalam).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Balouchzahi (2022)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→ English Twitter corpus (binary + fine-grained).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a94a63ce1_2_30"/>
          <p:cNvSpPr txBox="1"/>
          <p:nvPr/>
        </p:nvSpPr>
        <p:spPr>
          <a:xfrm>
            <a:off x="1614487" y="5743571"/>
            <a:ext cx="10577700" cy="4818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0" lIns="0" spcFirstLastPara="1" rIns="0" wrap="square" tIns="111125">
            <a:spAutoFit/>
          </a:bodyPr>
          <a:lstStyle/>
          <a:p>
            <a:pPr indent="0" lvl="0" marL="0" marR="8064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Pre-Defense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ba94a63ce1_2_30"/>
          <p:cNvSpPr txBox="1"/>
          <p:nvPr>
            <p:ph idx="12" type="sldNum"/>
          </p:nvPr>
        </p:nvSpPr>
        <p:spPr>
          <a:xfrm>
            <a:off x="11141125" y="6431775"/>
            <a:ext cx="105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ba94a63ce1_2_30"/>
          <p:cNvSpPr txBox="1"/>
          <p:nvPr/>
        </p:nvSpPr>
        <p:spPr>
          <a:xfrm>
            <a:off x="558700" y="491813"/>
            <a:ext cx="1097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ba94a63ce1_2_30"/>
          <p:cNvSpPr/>
          <p:nvPr/>
        </p:nvSpPr>
        <p:spPr>
          <a:xfrm>
            <a:off x="774192" y="1359987"/>
            <a:ext cx="10899600" cy="3904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Limitations in Current Works</a:t>
            </a:r>
            <a:endParaRPr/>
          </a:p>
          <a:p>
            <a:pPr indent="-342900" lvl="0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No dataset for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Bengali Hope Speech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42900" lvl="0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Existing models focus on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hate/abuse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detection, not hope.</a:t>
            </a:r>
            <a:endParaRPr/>
          </a:p>
          <a:p>
            <a:pPr indent="-342900" lvl="0" marL="8001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Most research is limited to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English, Tamil, Malayalam, Spanish, Kannada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15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 Focus</a:t>
            </a:r>
            <a:endParaRPr/>
          </a:p>
          <a:p>
            <a:pPr indent="-3556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Build the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xisting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first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Bengali Hope Speech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dataset.</a:t>
            </a:r>
            <a:endParaRPr/>
          </a:p>
          <a:p>
            <a:pPr indent="-3556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Support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positivity and inclusivity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in social media discourse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355600" lvl="0" marL="914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Work with Bengali text to promote culturally aware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NLP research.</a:t>
            </a:r>
            <a:endParaRPr b="1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86fbb3ceb_0_55"/>
          <p:cNvSpPr txBox="1"/>
          <p:nvPr/>
        </p:nvSpPr>
        <p:spPr>
          <a:xfrm>
            <a:off x="1614487" y="5743571"/>
            <a:ext cx="10577700" cy="4818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0" lIns="0" spcFirstLastPara="1" rIns="0" wrap="square" tIns="111125">
            <a:spAutoFit/>
          </a:bodyPr>
          <a:lstStyle/>
          <a:p>
            <a:pPr indent="0" lvl="0" marL="0" marR="8064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Pre-Defense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g3b86fbb3ceb_0_55"/>
          <p:cNvSpPr txBox="1"/>
          <p:nvPr>
            <p:ph idx="12" type="sldNum"/>
          </p:nvPr>
        </p:nvSpPr>
        <p:spPr>
          <a:xfrm>
            <a:off x="11141125" y="6431775"/>
            <a:ext cx="105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b86fbb3ceb_0_55"/>
          <p:cNvSpPr txBox="1"/>
          <p:nvPr/>
        </p:nvSpPr>
        <p:spPr>
          <a:xfrm>
            <a:off x="558700" y="491813"/>
            <a:ext cx="1097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b86fbb3ceb_0_55"/>
          <p:cNvSpPr/>
          <p:nvPr/>
        </p:nvSpPr>
        <p:spPr>
          <a:xfrm>
            <a:off x="5860725" y="1408175"/>
            <a:ext cx="6117900" cy="4230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Input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Collect Bengali tweets (2021–2022) using keywords.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Preprocessing: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Remove non-Bengali text, hashtags, symbols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Annotation: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3 native annotators, majority voting, Fleiss’ Kappa reliability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Text Encoder</a:t>
            </a: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FastText / IndicBERT / XLM-RoBERTa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Shared Feature Space</a:t>
            </a: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Project tweet features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Classifier</a:t>
            </a: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Logistic Regression, Decision Tree, Transformer models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▪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Output: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Binary classification → Hope / Non-Hope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g3b86fbb3ceb_0_55" title="ChatGPT Image Jan 16, 2026, 09_57_44 PM.png"/>
          <p:cNvPicPr preferRelativeResize="0"/>
          <p:nvPr/>
        </p:nvPicPr>
        <p:blipFill rotWithShape="1">
          <a:blip r:embed="rId3">
            <a:alphaModFix/>
          </a:blip>
          <a:srcRect b="0" l="17129" r="0" t="8709"/>
          <a:stretch/>
        </p:blipFill>
        <p:spPr>
          <a:xfrm>
            <a:off x="1507950" y="1529350"/>
            <a:ext cx="4683836" cy="3866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82f400aef_0_67"/>
          <p:cNvSpPr txBox="1"/>
          <p:nvPr/>
        </p:nvSpPr>
        <p:spPr>
          <a:xfrm>
            <a:off x="1614487" y="5743571"/>
            <a:ext cx="10577700" cy="4818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0" lIns="0" spcFirstLastPara="1" rIns="0" wrap="square" tIns="111125">
            <a:spAutoFit/>
          </a:bodyPr>
          <a:lstStyle/>
          <a:p>
            <a:pPr indent="0" lvl="0" marL="0" marR="8064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Pre-Defense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b82f400aef_0_67"/>
          <p:cNvSpPr txBox="1"/>
          <p:nvPr>
            <p:ph idx="12" type="sldNum"/>
          </p:nvPr>
        </p:nvSpPr>
        <p:spPr>
          <a:xfrm>
            <a:off x="11141125" y="6431775"/>
            <a:ext cx="105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b82f400aef_0_67"/>
          <p:cNvSpPr txBox="1"/>
          <p:nvPr/>
        </p:nvSpPr>
        <p:spPr>
          <a:xfrm>
            <a:off x="558700" y="491813"/>
            <a:ext cx="1097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 Demonstration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b82f400aef_0_67"/>
          <p:cNvSpPr/>
          <p:nvPr/>
        </p:nvSpPr>
        <p:spPr>
          <a:xfrm>
            <a:off x="919750" y="1513575"/>
            <a:ext cx="6117900" cy="3731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Input: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Collect Bengali tweets (2021–2022) using keywords.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Preprocessing: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Remove non-Bengali text, hashtags, symbols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Annotation: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3 native annotators, majority voting, Fleiss’ Kappa reliability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Text Encoder</a:t>
            </a: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FastText / IndicBERT / XLM-RoBERTa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Shared Feature Space</a:t>
            </a: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Project tweet features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Classifier</a:t>
            </a:r>
            <a:r>
              <a:rPr b="1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Logistic Regression, Decision Tree, Transformer models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▪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Output: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Binary classification → Hope / Non-Hope</a:t>
            </a:r>
            <a:endParaRPr sz="1800">
              <a:latin typeface="Noto Serif Bengali"/>
              <a:ea typeface="Noto Serif Bengali"/>
              <a:cs typeface="Noto Serif Bengali"/>
              <a:sym typeface="Noto Serif Bengali"/>
            </a:endParaRPr>
          </a:p>
        </p:txBody>
      </p:sp>
      <p:pic>
        <p:nvPicPr>
          <p:cNvPr id="126" name="Google Shape;126;g3b82f400aef_0_67" title="ChatGPT Image Jan 16, 2026, 10_22_4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7125" y="1570938"/>
            <a:ext cx="4849551" cy="323303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b82f400aef_0_67"/>
          <p:cNvSpPr txBox="1"/>
          <p:nvPr/>
        </p:nvSpPr>
        <p:spPr>
          <a:xfrm>
            <a:off x="919750" y="5144175"/>
            <a:ext cx="11272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Example:</a:t>
            </a:r>
            <a:r>
              <a:rPr lang="en-US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highlight>
                  <a:srgbClr val="FFFF00"/>
                </a:highlight>
                <a:latin typeface="Noto Serif Bengali"/>
                <a:ea typeface="Noto Serif Bengali"/>
                <a:cs typeface="Noto Serif Bengali"/>
                <a:sym typeface="Noto Serif Bengali"/>
              </a:rPr>
              <a:t>আমরা একসাথে থাকলে সবকিছু সম্ভব। (Hope) </a:t>
            </a:r>
            <a:r>
              <a:rPr b="1" lang="en-US" sz="1800">
                <a:solidFill>
                  <a:schemeClr val="dk1"/>
                </a:solidFill>
                <a:highlight>
                  <a:srgbClr val="FFFF00"/>
                </a:highlight>
                <a:latin typeface="Noto Serif Bengali"/>
                <a:ea typeface="Noto Serif Bengali"/>
                <a:cs typeface="Noto Serif Bengali"/>
                <a:sym typeface="Noto Serif Bengali"/>
              </a:rPr>
              <a:t>And</a:t>
            </a:r>
            <a:r>
              <a:rPr lang="en-US" sz="1800">
                <a:solidFill>
                  <a:schemeClr val="dk1"/>
                </a:solidFill>
                <a:highlight>
                  <a:srgbClr val="FFFF00"/>
                </a:highlight>
                <a:latin typeface="Noto Serif Bengali"/>
                <a:ea typeface="Noto Serif Bengali"/>
                <a:cs typeface="Noto Serif Bengali"/>
                <a:sym typeface="Noto Serif Bengali"/>
              </a:rPr>
              <a:t> কোনো পরিবর্তন হবে না, সবই বৃথা। (Non-Hope)</a:t>
            </a:r>
            <a:endParaRPr sz="1800">
              <a:solidFill>
                <a:schemeClr val="dk1"/>
              </a:solidFill>
              <a:highlight>
                <a:srgbClr val="FFFF00"/>
              </a:highlight>
              <a:latin typeface="Noto Serif Bengali"/>
              <a:ea typeface="Noto Serif Bengali"/>
              <a:cs typeface="Noto Serif Bengali"/>
              <a:sym typeface="Noto Serif Bengal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82f400aef_0_144"/>
          <p:cNvSpPr txBox="1"/>
          <p:nvPr/>
        </p:nvSpPr>
        <p:spPr>
          <a:xfrm>
            <a:off x="1614487" y="5743571"/>
            <a:ext cx="10577700" cy="4818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0" lIns="0" spcFirstLastPara="1" rIns="0" wrap="square" tIns="111125">
            <a:spAutoFit/>
          </a:bodyPr>
          <a:lstStyle/>
          <a:p>
            <a:pPr indent="0" lvl="0" marL="0" marR="8064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Pre-Defense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b82f400aef_0_144"/>
          <p:cNvSpPr txBox="1"/>
          <p:nvPr>
            <p:ph idx="12" type="sldNum"/>
          </p:nvPr>
        </p:nvSpPr>
        <p:spPr>
          <a:xfrm>
            <a:off x="11141125" y="6431775"/>
            <a:ext cx="105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b82f400aef_0_144"/>
          <p:cNvSpPr txBox="1"/>
          <p:nvPr/>
        </p:nvSpPr>
        <p:spPr>
          <a:xfrm>
            <a:off x="558700" y="491813"/>
            <a:ext cx="1097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Novelty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b82f400aef_0_144"/>
          <p:cNvSpPr/>
          <p:nvPr/>
        </p:nvSpPr>
        <p:spPr>
          <a:xfrm>
            <a:off x="1060700" y="1645275"/>
            <a:ext cx="10293000" cy="30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➢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Existing first Bengali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Hope Speech dataset from social media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➢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Culturally contextual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annotations reflecting local positivity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➢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Bangla‑supported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NLP with IndicBERT / XLM‑RoBERTa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➢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Binary classification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(Hope / Non‑Hope) with reliable annotation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➢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Benchmarks comparing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traditional classifiers vs transformer models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a94a63ce1_4_53"/>
          <p:cNvSpPr txBox="1"/>
          <p:nvPr/>
        </p:nvSpPr>
        <p:spPr>
          <a:xfrm>
            <a:off x="1614487" y="5743571"/>
            <a:ext cx="10577700" cy="4818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0" lIns="0" spcFirstLastPara="1" rIns="0" wrap="square" tIns="111125">
            <a:spAutoFit/>
          </a:bodyPr>
          <a:lstStyle/>
          <a:p>
            <a:pPr indent="0" lvl="0" marL="0" marR="8064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Pre-Defense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ba94a63ce1_4_53"/>
          <p:cNvSpPr txBox="1"/>
          <p:nvPr>
            <p:ph idx="12" type="sldNum"/>
          </p:nvPr>
        </p:nvSpPr>
        <p:spPr>
          <a:xfrm>
            <a:off x="11141125" y="6431775"/>
            <a:ext cx="105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ba94a63ce1_4_53"/>
          <p:cNvSpPr txBox="1"/>
          <p:nvPr/>
        </p:nvSpPr>
        <p:spPr>
          <a:xfrm>
            <a:off x="558700" y="491813"/>
            <a:ext cx="1097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ba94a63ce1_4_53"/>
          <p:cNvSpPr/>
          <p:nvPr/>
        </p:nvSpPr>
        <p:spPr>
          <a:xfrm>
            <a:off x="931164" y="1387175"/>
            <a:ext cx="10293000" cy="40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Expand 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dataset size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with more diverse sources (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Facebook, YouTube, LinkedIn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Explore fine-grained hope 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categories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Generalized, Realistic, Unrealistic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Apply advanced 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transformer models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Indic-BERT, multilingual XLM-R, Etc.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Cross-lingual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hope speech detection across 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South Asian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languages.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⮚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Integrate 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multimodal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hope speech detection (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text + image/video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82f400aef_0_95"/>
          <p:cNvSpPr txBox="1"/>
          <p:nvPr/>
        </p:nvSpPr>
        <p:spPr>
          <a:xfrm>
            <a:off x="1614487" y="5743571"/>
            <a:ext cx="10577700" cy="4818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0" lIns="0" spcFirstLastPara="1" rIns="0" wrap="square" tIns="111125">
            <a:spAutoFit/>
          </a:bodyPr>
          <a:lstStyle/>
          <a:p>
            <a:pPr indent="0" lvl="0" marL="0" marR="8064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Pre-Defense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b82f400aef_0_95"/>
          <p:cNvSpPr txBox="1"/>
          <p:nvPr>
            <p:ph idx="12" type="sldNum"/>
          </p:nvPr>
        </p:nvSpPr>
        <p:spPr>
          <a:xfrm>
            <a:off x="11141125" y="6431775"/>
            <a:ext cx="105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b82f400aef_0_95"/>
          <p:cNvSpPr txBox="1"/>
          <p:nvPr/>
        </p:nvSpPr>
        <p:spPr>
          <a:xfrm>
            <a:off x="558700" y="491813"/>
            <a:ext cx="1097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❏"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b82f400aef_0_95"/>
          <p:cNvSpPr/>
          <p:nvPr/>
        </p:nvSpPr>
        <p:spPr>
          <a:xfrm>
            <a:off x="1060700" y="1326150"/>
            <a:ext cx="10293000" cy="42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Introduces the 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existing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first Bengali Hope Speech dataset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curated from social media, combining culturally contextual annotations with transformer‑based NLP models.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The system effectively classifies 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Hope and Non‑Hope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expressions in Bengali text with strong reliability and benchmarked performance. The results confirm the feasibility of culturally aware NLP for promoting positivity and inclusivity in low‑resource languages.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82f400aef_0_26"/>
          <p:cNvSpPr txBox="1"/>
          <p:nvPr/>
        </p:nvSpPr>
        <p:spPr>
          <a:xfrm>
            <a:off x="1614487" y="5743571"/>
            <a:ext cx="10577700" cy="4818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ctr" bIns="0" lIns="0" spcFirstLastPara="1" rIns="0" wrap="square" tIns="111125">
            <a:noAutofit/>
          </a:bodyPr>
          <a:lstStyle/>
          <a:p>
            <a:pPr indent="0" lvl="0" marL="0" marR="8064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Pre-Defense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g3b82f400aef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0860" y="3108932"/>
            <a:ext cx="2670278" cy="64013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b82f400aef_0_26"/>
          <p:cNvSpPr txBox="1"/>
          <p:nvPr>
            <p:ph idx="12" type="sldNum"/>
          </p:nvPr>
        </p:nvSpPr>
        <p:spPr>
          <a:xfrm>
            <a:off x="11141125" y="6431775"/>
            <a:ext cx="105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16428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g3b82f400aef_0_26"/>
          <p:cNvSpPr/>
          <p:nvPr/>
        </p:nvSpPr>
        <p:spPr>
          <a:xfrm>
            <a:off x="912825" y="2058400"/>
            <a:ext cx="10517100" cy="2066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8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1" i="1" sz="8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2025-05-22T10:40:12Z</dcterms:created>
  <dc:creator>cse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2025-05-22T00:00:00Z</vt:filetime>
  </property>
  <property fmtid="{D5CDD505-2E9C-101B-9397-08002B2CF9AE}" pid="3" name="Creator">
    <vt:lpwstr>Google</vt:lpwstr>
  </property>
  <property fmtid="{D5CDD505-2E9C-101B-9397-08002B2CF9AE}" pid="4" name="LastSaved">
    <vt:filetime>2025-05-22T00:00:00Z</vt:filetime>
  </property>
</Properties>
</file>